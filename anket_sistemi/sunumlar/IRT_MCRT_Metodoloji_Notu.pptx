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638"/>
          </a:solidFill>
          <a:ln w="12700">
            <a:solidFill>
              <a:srgbClr val="1E26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8580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75895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METODOLOJI NOTU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6126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IRT ve MCRT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Hesaplama Çerçevesi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58368" y="2743200"/>
            <a:ext cx="5669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0E0"/>
                </a:solidFill>
              </a:rPr>
              <a:t>Bu sunum, platformda kullanılan temel hesaplamaları, bu hesaplamaların neyi gösterdiğini ve hangi literatür çizgisine dayandığını müşteri iletişimi için özetler.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949440" y="1051560"/>
            <a:ext cx="4297680" cy="4846320"/>
          </a:xfrm>
          <a:prstGeom prst="roundRect">
            <a:avLst>
              <a:gd name="adj" fmla="val 2553"/>
            </a:avLst>
          </a:prstGeom>
          <a:solidFill>
            <a:srgbClr val="27324A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69480" y="1371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</a:rPr>
              <a:t>Bu deck ne işe yarar?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42048" y="1828800"/>
            <a:ext cx="347472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C7D0E0"/>
                </a:solidFill>
              </a:rPr>
              <a:t>IRT’de hangi metrikler hesaplanıyor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C7D0E0"/>
                </a:solidFill>
              </a:rPr>
              <a:t>MCRT’de hangi metrikler hesaplanıyor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C7D0E0"/>
                </a:solidFill>
              </a:rPr>
              <a:t>Hangisi doğrudan literatür yöntemi, hangisi platform içi normalize skor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C7D0E0"/>
                </a:solidFill>
              </a:rPr>
              <a:t>Müşteriye en güvenli metodolojik anlatım dili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C7D0E0"/>
                </a:solidFill>
              </a:rPr>
              <a:t>Temel makale ve teknik referanslar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242048" y="49834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59E0B"/>
                </a:solidFill>
              </a:rPr>
              <a:t>Not: Buradaki IRT, Item Response Theory değil, Implicit Reaction Time anlamındadır.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4BD"/>
                </a:solidFill>
              </a:rPr>
              <a:t>MindSight | IRT ve MCRT metodoloji özeti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Genel metodolojik çerçeve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Sistemde iki farklı ama akraba tepki süresi mantığı birlikte kullanılıyor.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0881360" cy="0"/>
          </a:xfrm>
          <a:prstGeom prst="line">
            <a:avLst/>
          </a:prstGeom>
          <a:noFill/>
          <a:ln w="12700">
            <a:solidFill>
              <a:srgbClr val="4652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27324A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545336"/>
            <a:ext cx="5111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</a:rPr>
              <a:t>IRT (Implicit Reaction Time)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1892808"/>
            <a:ext cx="5129784" cy="3867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C7D0E0"/>
                </a:solidFill>
              </a:rPr>
              <a:t>Katılımcıya marka + ifade kombinasyonu sunulur.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C7D0E0"/>
                </a:solidFill>
              </a:rPr>
              <a:t>Katılımcı Evet / Hayır gibi doğrudan bir karar verir.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C7D0E0"/>
                </a:solidFill>
              </a:rPr>
              <a:t>Açık beyan oranı ile karar hızı birlikte yorumlanır.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C7D0E0"/>
                </a:solidFill>
              </a:rPr>
              <a:t>Özellikle marka-ifade uyumu ve otomatik erişim gücü için kullanılır.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303520" cy="4434840"/>
          </a:xfrm>
          <a:prstGeom prst="roundRect">
            <a:avLst>
              <a:gd name="adj" fmla="val 1649"/>
            </a:avLst>
          </a:prstGeom>
          <a:solidFill>
            <a:srgbClr val="313D5A"/>
          </a:solidFill>
          <a:ln w="12700">
            <a:solidFill>
              <a:srgbClr val="313D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8232" y="1545336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</a:rPr>
              <a:t>MCRT (Multiple Choice Reaction Time)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28232" y="1892808"/>
            <a:ext cx="4992624" cy="3867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C7D0E0"/>
                </a:solidFill>
              </a:rPr>
              <a:t>Katılımcı bir uyaran karşısında birden fazla seçenek arasından seçim yapar.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C7D0E0"/>
                </a:solidFill>
              </a:rPr>
              <a:t>Hangi alternatifin daha baskın olduğu ve ne kadar hızlı seçildiği ölçülür.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C7D0E0"/>
                </a:solidFill>
              </a:rPr>
              <a:t>Seçilme payı ile karar hızı birlikte okunur.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C7D0E0"/>
                </a:solidFill>
              </a:rPr>
              <a:t>Özellikle zihinsel sahiplik, anlam yönü ve alternatifler arası ayrışma için kullanılır.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" y="608076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6117336"/>
            <a:ext cx="110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Önemli ayrım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48840" y="6053328"/>
            <a:ext cx="9235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0E0"/>
                </a:solidFill>
              </a:rPr>
              <a:t>Her iki yöntemde de tepki süresi bilimsel çekirdektir. Dashboard üzerinde gördüğümüz 0-100 tipindeki bazı skorlar ise yorumlamayı kolaylaştıran normalize edilmiş sunum katmanlarıdır.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4BD"/>
                </a:solidFill>
              </a:rPr>
              <a:t>MindSight | IRT ve MCRT metodoloji özeti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IRT’de üretilen temel metrikler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 marka x ifade kombinasyonu için hem açık beyan hem hız temelli örtük sinyal üretilir.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0881360" cy="0"/>
          </a:xfrm>
          <a:prstGeom prst="line">
            <a:avLst/>
          </a:prstGeom>
          <a:noFill/>
          <a:ln w="12700">
            <a:solidFill>
              <a:srgbClr val="4652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27324A"/>
          </a:solidFill>
          <a:ln w="12700">
            <a:solidFill>
              <a:srgbClr val="4652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527048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63FF"/>
                </a:solidFill>
              </a:rPr>
              <a:t>Explicit yüzde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68096" y="176479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</a:rPr>
              <a:t>Evet / Toplam * 100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8096" y="2203704"/>
            <a:ext cx="24871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0E0"/>
                </a:solidFill>
              </a:rPr>
              <a:t>Açık beyan edilen uyum oranı.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11880" y="1417320"/>
            <a:ext cx="3657600" cy="1508760"/>
          </a:xfrm>
          <a:prstGeom prst="roundRect">
            <a:avLst>
              <a:gd name="adj" fmla="val 4848"/>
            </a:avLst>
          </a:prstGeom>
          <a:solidFill>
            <a:srgbClr val="27324A"/>
          </a:solidFill>
          <a:ln w="12700">
            <a:solidFill>
              <a:srgbClr val="4652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39896" y="1527048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</a:rPr>
              <a:t>Implicit güç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39896" y="1764792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</a:rPr>
              <a:t>(Baseline - Süre) / Oturum içi SD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39896" y="2203704"/>
            <a:ext cx="34015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0E0"/>
                </a:solidFill>
              </a:rPr>
              <a:t>Kişisel baz hıza göre tepki avantajı.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98080" y="1417320"/>
            <a:ext cx="3749040" cy="1508760"/>
          </a:xfrm>
          <a:prstGeom prst="roundRect">
            <a:avLst>
              <a:gd name="adj" fmla="val 4848"/>
            </a:avLst>
          </a:prstGeom>
          <a:solidFill>
            <a:srgbClr val="27324A"/>
          </a:solidFill>
          <a:ln w="12700">
            <a:solidFill>
              <a:srgbClr val="4652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26096" y="1527048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Implicit skor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626096" y="1764792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</a:rPr>
              <a:t>clamp((güç * 25) + 50)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6096" y="2203704"/>
            <a:ext cx="349300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0E0"/>
                </a:solidFill>
              </a:rPr>
              <a:t>Platform içi 0-100 normalize görünüm.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15468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27324A"/>
          </a:solidFill>
          <a:ln w="12700">
            <a:solidFill>
              <a:srgbClr val="4652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3264408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</a:rPr>
              <a:t>Fark ms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8096" y="350215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</a:rPr>
              <a:t>Hayır ms - Evet ms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8096" y="3941064"/>
            <a:ext cx="24871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0E0"/>
                </a:solidFill>
              </a:rPr>
              <a:t>Olumlu yanıtların hız avantajı.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11880" y="3154680"/>
            <a:ext cx="3657600" cy="1508760"/>
          </a:xfrm>
          <a:prstGeom prst="roundRect">
            <a:avLst>
              <a:gd name="adj" fmla="val 4848"/>
            </a:avLst>
          </a:prstGeom>
          <a:solidFill>
            <a:srgbClr val="27324A"/>
          </a:solidFill>
          <a:ln w="12700">
            <a:solidFill>
              <a:srgbClr val="4652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39896" y="3264408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63FF"/>
                </a:solidFill>
              </a:rPr>
              <a:t>Korelasyon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739896" y="3502152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</a:rPr>
              <a:t>Pearson + Spearman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739896" y="3941064"/>
            <a:ext cx="34015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0E0"/>
                </a:solidFill>
              </a:rPr>
              <a:t>Explicit ile implicit aynı yönde mi gidiyor?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498080" y="3154680"/>
            <a:ext cx="3749040" cy="1508760"/>
          </a:xfrm>
          <a:prstGeom prst="roundRect">
            <a:avLst>
              <a:gd name="adj" fmla="val 4848"/>
            </a:avLst>
          </a:prstGeom>
          <a:solidFill>
            <a:srgbClr val="27324A"/>
          </a:solidFill>
          <a:ln w="12700">
            <a:solidFill>
              <a:srgbClr val="4652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26096" y="3264408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</a:rPr>
              <a:t>Karşılaştırma testleri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626096" y="3502152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</a:rPr>
              <a:t>Chi-square + Welch + 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26096" y="3941064"/>
            <a:ext cx="349300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0E0"/>
                </a:solidFill>
              </a:rPr>
              <a:t>Markalar arasındaki farkın anlamlılığı ve büyüklüğü.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4983480"/>
            <a:ext cx="10607040" cy="1097280"/>
          </a:xfrm>
          <a:prstGeom prst="roundRect">
            <a:avLst>
              <a:gd name="adj" fmla="val 6667"/>
            </a:avLst>
          </a:prstGeom>
          <a:solidFill>
            <a:srgbClr val="313D5A"/>
          </a:solidFill>
          <a:ln w="12700">
            <a:solidFill>
              <a:srgbClr val="313D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5111496"/>
            <a:ext cx="10277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</a:rPr>
              <a:t>Müşteriye söyleyiş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04672" y="5458968"/>
            <a:ext cx="1029614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C7D0E0"/>
                </a:solidFill>
              </a:rPr>
              <a:t>IRT, marka-ifade eşleşmesinin açık beyanını ve bu beyanın otomatik erişim gücünü aynı anda okur.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6446520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4BD"/>
                </a:solidFill>
              </a:rPr>
              <a:t>MindSight | IRT ve MCRT metodoloji özeti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MCRT’de üretilen temel metrikler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Aynı stimulus altında alternatiflerin payı ve karar hızı birlikte değerlendirilir.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0881360" cy="0"/>
          </a:xfrm>
          <a:prstGeom prst="line">
            <a:avLst/>
          </a:prstGeom>
          <a:noFill/>
          <a:ln w="12700">
            <a:solidFill>
              <a:srgbClr val="4652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27324A"/>
          </a:solidFill>
          <a:ln w="12700">
            <a:solidFill>
              <a:srgbClr val="4652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527048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63FF"/>
                </a:solidFill>
              </a:rPr>
              <a:t>Seçilme sayısı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68096" y="176479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</a:rPr>
              <a:t>Count(choice)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8096" y="2203704"/>
            <a:ext cx="24871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0E0"/>
                </a:solidFill>
              </a:rPr>
              <a:t>Ham tercih hacmi.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11880" y="1417320"/>
            <a:ext cx="3474720" cy="1508760"/>
          </a:xfrm>
          <a:prstGeom prst="roundRect">
            <a:avLst>
              <a:gd name="adj" fmla="val 4848"/>
            </a:avLst>
          </a:prstGeom>
          <a:solidFill>
            <a:srgbClr val="27324A"/>
          </a:solidFill>
          <a:ln w="12700">
            <a:solidFill>
              <a:srgbClr val="4652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39896" y="1527048"/>
            <a:ext cx="3218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</a:rPr>
              <a:t>Seçilme oranı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39896" y="1764792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</a:rPr>
              <a:t>Seçim / Toplam seçim * 100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39896" y="2203704"/>
            <a:ext cx="32186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0E0"/>
                </a:solidFill>
              </a:rPr>
              <a:t>Göreli zihinsel pay.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0" y="1417320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27324A"/>
          </a:solidFill>
          <a:ln w="12700">
            <a:solidFill>
              <a:srgbClr val="4652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43216" y="1527048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Ortalama / medyan hız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43216" y="1764792"/>
            <a:ext cx="3675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</a:rPr>
              <a:t>Mean RT / Median RT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443216" y="2203704"/>
            <a:ext cx="36758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0E0"/>
                </a:solidFill>
              </a:rPr>
              <a:t>Kararın ne kadar kolay ve hızlı verildiği.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154680"/>
            <a:ext cx="3703320" cy="1508760"/>
          </a:xfrm>
          <a:prstGeom prst="roundRect">
            <a:avLst>
              <a:gd name="adj" fmla="val 4848"/>
            </a:avLst>
          </a:prstGeom>
          <a:solidFill>
            <a:srgbClr val="27324A"/>
          </a:solidFill>
          <a:ln w="12700">
            <a:solidFill>
              <a:srgbClr val="4652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3264408"/>
            <a:ext cx="3447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</a:rPr>
              <a:t>MCRT skoru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8096" y="3502152"/>
            <a:ext cx="3447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</a:rPr>
              <a:t>Pay * (1000 / max(Ortalama RT,300))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8096" y="3941064"/>
            <a:ext cx="34472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0E0"/>
                </a:solidFill>
              </a:rPr>
              <a:t>Sık ve hızlı seçilen alternatif daha yüksek skor alır.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0" y="3154680"/>
            <a:ext cx="3383280" cy="1508760"/>
          </a:xfrm>
          <a:prstGeom prst="roundRect">
            <a:avLst>
              <a:gd name="adj" fmla="val 4848"/>
            </a:avLst>
          </a:prstGeom>
          <a:solidFill>
            <a:srgbClr val="27324A"/>
          </a:solidFill>
          <a:ln w="12700">
            <a:solidFill>
              <a:srgbClr val="4652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0016" y="3264408"/>
            <a:ext cx="3127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63FF"/>
                </a:solidFill>
              </a:rPr>
              <a:t>Karşılaştırma testi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0016" y="3502152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</a:rPr>
              <a:t>Wilcoxon + 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00016" y="3941064"/>
            <a:ext cx="31272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0E0"/>
                </a:solidFill>
              </a:rPr>
              <a:t>Eşleşmiş ifade setlerinde marka farkı.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183880" y="3154680"/>
            <a:ext cx="3063240" cy="1508760"/>
          </a:xfrm>
          <a:prstGeom prst="roundRect">
            <a:avLst>
              <a:gd name="adj" fmla="val 4848"/>
            </a:avLst>
          </a:prstGeom>
          <a:solidFill>
            <a:srgbClr val="27324A"/>
          </a:solidFill>
          <a:ln w="12700">
            <a:solidFill>
              <a:srgbClr val="4652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11896" y="3264408"/>
            <a:ext cx="2807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</a:rPr>
              <a:t>Kategori özeti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311896" y="3502152"/>
            <a:ext cx="2807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</a:rPr>
              <a:t>Kategori içi ortalama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11896" y="3941064"/>
            <a:ext cx="280720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0E0"/>
                </a:solidFill>
              </a:rPr>
              <a:t>Tek tek ifadeler yerine anlam kümeleri.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4983480"/>
            <a:ext cx="10607040" cy="1097280"/>
          </a:xfrm>
          <a:prstGeom prst="roundRect">
            <a:avLst>
              <a:gd name="adj" fmla="val 6667"/>
            </a:avLst>
          </a:prstGeom>
          <a:solidFill>
            <a:srgbClr val="313D5A"/>
          </a:solidFill>
          <a:ln w="12700">
            <a:solidFill>
              <a:srgbClr val="313D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5111496"/>
            <a:ext cx="10277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</a:rPr>
              <a:t>Müşteriye söyleyiş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04672" y="5458968"/>
            <a:ext cx="1029614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C7D0E0"/>
                </a:solidFill>
              </a:rPr>
              <a:t>MCRT, alternatiflerin göreli zihinsel sahipliğini ve karar kolaylığını birlikte ölçer.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6446520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4BD"/>
                </a:solidFill>
              </a:rPr>
              <a:t>MindSight | IRT ve MCRT metodoloji özeti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Baseline ve kalite temizliği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Tepki süresi verisi, kişisel hız farklarını ve düşük kaliteli yanıtları kontrol ederek okunur.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0881360" cy="0"/>
          </a:xfrm>
          <a:prstGeom prst="line">
            <a:avLst/>
          </a:prstGeom>
          <a:noFill/>
          <a:ln w="12700">
            <a:solidFill>
              <a:srgbClr val="4652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5257800" cy="4343400"/>
          </a:xfrm>
          <a:prstGeom prst="roundRect">
            <a:avLst>
              <a:gd name="adj" fmla="val 1684"/>
            </a:avLst>
          </a:prstGeom>
          <a:solidFill>
            <a:srgbClr val="27324A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545336"/>
            <a:ext cx="4928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</a:rPr>
              <a:t>IRT baseline ve kalite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1892808"/>
            <a:ext cx="4946904" cy="3776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C7D0E0"/>
                </a:solidFill>
              </a:rPr>
              <a:t>Alıştırma sorularından 300-3000 ms aralığındaki sürelerin ortalaması alınır.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C7D0E0"/>
                </a:solidFill>
              </a:rPr>
              <a:t>Bu değer kişisel baz hız olarak implicit güç hesabında kullanılır.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C7D0E0"/>
                </a:solidFill>
              </a:rPr>
              <a:t>%30’dan fazla trial 300 ms altındaysa kalite sorunu kabul edilir.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C7D0E0"/>
                </a:solidFill>
              </a:rPr>
              <a:t>%98’den fazla aynı yanıt verilmesi, yanıt yanlılığı olarak değerlendirilir.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1417320"/>
            <a:ext cx="5166360" cy="4343400"/>
          </a:xfrm>
          <a:prstGeom prst="roundRect">
            <a:avLst>
              <a:gd name="adj" fmla="val 1684"/>
            </a:avLst>
          </a:prstGeom>
          <a:solidFill>
            <a:srgbClr val="313D5A"/>
          </a:solidFill>
          <a:ln w="12700">
            <a:solidFill>
              <a:srgbClr val="313D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91072" y="1545336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</a:rPr>
              <a:t>MCRT baseline ve kalite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91072" y="1892808"/>
            <a:ext cx="4855464" cy="3776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C7D0E0"/>
                </a:solidFill>
              </a:rPr>
              <a:t>Alıştırma sorularından 250-8000 ms aralığındaki sürelerin medyanı alınır.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C7D0E0"/>
                </a:solidFill>
              </a:rPr>
              <a:t>Bu yapı çoktan seçmeli kararda uç değerlerin etkisini azaltır.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C7D0E0"/>
                </a:solidFill>
              </a:rPr>
              <a:t>%30’dan fazla trial 250 ms altındaysa, aşırı hızlı yanıt sorunu sayılır.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C7D0E0"/>
                </a:solidFill>
              </a:rPr>
              <a:t>%50’den fazla trial 8000 ms üstündeyse veya tek seçeneğe kilitlenme varsa veri elenir.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" y="6053328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6089904"/>
            <a:ext cx="1014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Neden önemli?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57400" y="6035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0E0"/>
                </a:solidFill>
              </a:rPr>
              <a:t>Bu katmanlar, katılımcının genel hızı ile gerçek marka-çağrışım gücünü ayırmaya ve rastgele / mekanik yanıtları temizlemeye yarar.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4BD"/>
                </a:solidFill>
              </a:rPr>
              <a:t>MindSight | IRT ve MCRT metodoloji özeti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Literatürde doğrudan standart olanlar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Müşteri iletişiminde en güvenli duruş: standart istatistik yöntemleri ile platform içi skorları ayırmak.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0881360" cy="0"/>
          </a:xfrm>
          <a:prstGeom prst="line">
            <a:avLst/>
          </a:prstGeom>
          <a:noFill/>
          <a:ln w="12700">
            <a:solidFill>
              <a:srgbClr val="4652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5303520" cy="4526280"/>
          </a:xfrm>
          <a:prstGeom prst="roundRect">
            <a:avLst>
              <a:gd name="adj" fmla="val 1616"/>
            </a:avLst>
          </a:prstGeom>
          <a:solidFill>
            <a:srgbClr val="27324A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545336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</a:rPr>
              <a:t>Doğrudan literatür tabanlı katman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1892808"/>
            <a:ext cx="4992624" cy="3959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C7D0E0"/>
                </a:solidFill>
              </a:rPr>
              <a:t>Response latency / attitude accessibility mantığı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C7D0E0"/>
                </a:solidFill>
              </a:rPr>
              <a:t>Implicit association ve hız avantajı yorumu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C7D0E0"/>
                </a:solidFill>
              </a:rPr>
              <a:t>Discrete choice / forced-choice seçim payı mantığı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C7D0E0"/>
                </a:solidFill>
              </a:rPr>
              <a:t>Pearson ve Spearman korelasyonları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C7D0E0"/>
                </a:solidFill>
              </a:rPr>
              <a:t>Pearson chi-square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C7D0E0"/>
                </a:solidFill>
              </a:rPr>
              <a:t>Welch t-testi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C7D0E0"/>
                </a:solidFill>
              </a:rPr>
              <a:t>Wilcoxon signed-rank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C7D0E0"/>
                </a:solidFill>
              </a:rPr>
              <a:t>Cohen’s d ve güven aralığı yorumu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41732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313D5A"/>
          </a:solidFill>
          <a:ln w="12700">
            <a:solidFill>
              <a:srgbClr val="313D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6792" y="1545336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</a:rPr>
              <a:t>Platform içi normalize skorlar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36792" y="1892808"/>
            <a:ext cx="4764024" cy="3959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C7D0E0"/>
                </a:solidFill>
              </a:rPr>
              <a:t>IRT implicit skor (0-100)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C7D0E0"/>
                </a:solidFill>
              </a:rPr>
              <a:t>MCRT skor (0-100)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C7D0E0"/>
                </a:solidFill>
              </a:rPr>
              <a:t>Bazı dashboard bileşik skorları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C7D0E0"/>
                </a:solidFill>
              </a:rPr>
              <a:t>Bunlar bilim dışı değildir; ancak doğrudan literatürde aynı adla geçen tekil standart ölçüler değildir.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C7D0E0"/>
                </a:solidFill>
              </a:rPr>
              <a:t>En güvenli ifade: “reaksiyon zamanı ve seçim örüntüsünden türetilmiş normalize edilmiş birleşik skor”.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4BD"/>
                </a:solidFill>
              </a:rPr>
              <a:t>MindSight | IRT ve MCRT metodoloji özeti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Müşteriye önerilen anlatım dili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Aşağıdaki cümleler, yöntemi güçlü ama metodolojik olarak güvenli şekilde anlatır.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0881360" cy="0"/>
          </a:xfrm>
          <a:prstGeom prst="line">
            <a:avLst/>
          </a:prstGeom>
          <a:noFill/>
          <a:ln w="12700">
            <a:solidFill>
              <a:srgbClr val="4652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27324A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545336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</a:rPr>
              <a:t>IRT için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1892808"/>
            <a:ext cx="4992624" cy="3913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C7D0E0"/>
                </a:solidFill>
              </a:rPr>
              <a:t>IRT, marka-ifade eşleşmesinin açık beyanını ve tepki süresi temelli örtük erişim gücünü birlikte ölçer.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C7D0E0"/>
                </a:solidFill>
              </a:rPr>
              <a:t>Açık beyan oranı, katılımcının bilinçli olarak ifade ettiği uyumu gösterir.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C7D0E0"/>
                </a:solidFill>
              </a:rPr>
              <a:t>Örtük güç katmanı ise, yanıtın kişisel baz hıza göre ne kadar hızlı geldiğini dikkate alır.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C7D0E0"/>
                </a:solidFill>
              </a:rPr>
              <a:t>Bu iki katman arasındaki ilişki ayrıca korelasyonla incelenir.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417320"/>
            <a:ext cx="5074920" cy="4480560"/>
          </a:xfrm>
          <a:prstGeom prst="roundRect">
            <a:avLst>
              <a:gd name="adj" fmla="val 1633"/>
            </a:avLst>
          </a:prstGeom>
          <a:solidFill>
            <a:srgbClr val="313D5A"/>
          </a:solidFill>
          <a:ln w="12700">
            <a:solidFill>
              <a:srgbClr val="313D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6792" y="1545336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</a:rPr>
              <a:t>MCRT için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36792" y="1892808"/>
            <a:ext cx="4764024" cy="3913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C7D0E0"/>
                </a:solidFill>
              </a:rPr>
              <a:t>MCRT, alternatifler arasındaki göreli zihinsel sahipliği ve karar kolaylığını ölçer.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C7D0E0"/>
                </a:solidFill>
              </a:rPr>
              <a:t>Seçilme payı, alternatifin göreli zihinsel ağırlığını gösterir.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C7D0E0"/>
                </a:solidFill>
              </a:rPr>
              <a:t>Karar hızı, o alternatifin ne kadar kolay ve otomatik seçildiğini gösterir.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C7D0E0"/>
                </a:solidFill>
              </a:rPr>
              <a:t>Birleşik skor, seçilme payı ile karar hızını birlikte okuyarak zihinsel dominansı özetler.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4BD"/>
                </a:solidFill>
              </a:rPr>
              <a:t>MindSight | IRT ve MCRT metodoloji özeti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Temel kaynaklar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sunumda kullanılan metodolojik dayanakların kısa listesi.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0881360" cy="0"/>
          </a:xfrm>
          <a:prstGeom prst="line">
            <a:avLst/>
          </a:prstGeom>
          <a:noFill/>
          <a:ln w="12700">
            <a:solidFill>
              <a:srgbClr val="4652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10972800" cy="4480560"/>
          </a:xfrm>
          <a:prstGeom prst="roundRect">
            <a:avLst>
              <a:gd name="adj" fmla="val 1633"/>
            </a:avLst>
          </a:prstGeom>
          <a:solidFill>
            <a:srgbClr val="27324A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37360"/>
            <a:ext cx="1033272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5F7FB"/>
                </a:solidFill>
              </a:rPr>
              <a:t>Keller (1993) - Conceptualizing, Measuring, and Managing Customer-Based Brand Equity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5F7FB"/>
                </a:solidFill>
              </a:rPr>
              <a:t>Fazio (2007) - Attitudes as Object-Evaluation Associations of Varying Strength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5F7FB"/>
                </a:solidFill>
              </a:rPr>
              <a:t>Bassili (1995) - Response Latency and the Accessibility of Voting Intentions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5F7FB"/>
                </a:solidFill>
              </a:rPr>
              <a:t>Greenwald, Nosek, Banaji (2003) - Improved Scoring Algorithm for the IAT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5F7FB"/>
                </a:solidFill>
              </a:rPr>
              <a:t>Millisecond - Brand Association Reaction Time Task Technical Manual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5F7FB"/>
                </a:solidFill>
              </a:rPr>
              <a:t>Otter, Allenby, Van Zandt (2008) - An Integrated Model of Discrete Choice and Response Time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5F7FB"/>
                </a:solidFill>
              </a:rPr>
              <a:t>Wilcoxon (1945) - Individual Comparisons by Ranking Methods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5F7FB"/>
                </a:solidFill>
              </a:rPr>
              <a:t>Lakens (2013) - Calculating and Reporting Effect Sizes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614476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7D0E0"/>
                </a:solidFill>
              </a:rPr>
              <a:t>Not: Müşteri-facing deck’te bu kaynaklar tam bibliyografya veya appendix formatında ayrıca verilebilir.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4BD"/>
                </a:solidFill>
              </a:rPr>
              <a:t>MindSight | Metodoloji referans özeti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MindSight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IRT ve MCRT Metodoloji Notu</dc:title>
  <dc:subject>IRT ve MCRT metodoloji notu</dc:subject>
  <dc:creator>OpenAI Codex</dc:creator>
  <cp:lastModifiedBy>OpenAI Codex</cp:lastModifiedBy>
  <cp:revision>1</cp:revision>
  <dcterms:created xsi:type="dcterms:W3CDTF">2026-05-06T12:48:40Z</dcterms:created>
  <dcterms:modified xsi:type="dcterms:W3CDTF">2026-05-06T12:48:40Z</dcterms:modified>
</cp:coreProperties>
</file>